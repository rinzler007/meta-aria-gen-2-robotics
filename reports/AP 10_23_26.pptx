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recap slide. Two deliverables, twelve recordings, and this week the 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position alone loses the pour. Then the formula, then why 4 by 4, then relative to the first frame which is what was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conjugation argument is the key one. X is unknown and it does not matter, because conjugation preserves the trace and the angle comes from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the concept is understood. Each line is a property a rigid body transform must have and each number is measured on our own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angle curve first. It rises to 112 and comes back, which is the pour and the return. Then say the translation panel is almost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zeros in the static pose file are a consequence of the resting classification, which itself came from the measured 6.1 cm span. The real measurement here is the 0.69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 top row is the object and the bottom row is where it went. The earlier version of this figure drew both at once and was unreadable.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items, each with the number that says how far off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310896" y="274320"/>
            <a:ext cx="8522208" cy="411480"/>
          </a:xfrm>
          <a:prstGeom prst="rect">
            <a:avLst/>
          </a:prstGeom>
          <a:noFill/>
          <a:ln/>
        </p:spPr>
        <p:txBody>
          <a:bodyPr wrap="square" rtlCol="0" anchor="ctr"/>
          <a:lstStyle/>
          <a:p>
            <a:pPr indent="0" marL="0">
              <a:buNone/>
            </a:pPr>
            <a:r>
              <a:rPr lang="en-US" sz="1100" i="1" dirty="0">
                <a:solidFill>
                  <a:srgbClr val="5A5A5A"/>
                </a:solidFill>
                <a:latin typeface="Times New Roman" pitchFamily="34" charset="0"/>
                <a:ea typeface="Times New Roman" pitchFamily="34" charset="-122"/>
                <a:cs typeface="Times New Roman" pitchFamily="34" charset="-120"/>
              </a:rPr>
              <a:t>Caregiver Interface - Harsh (Sai)</a:t>
            </a:r>
            <a:endParaRPr lang="en-US" sz="1100" dirty="0"/>
          </a:p>
        </p:txBody>
      </p:sp>
      <p:sp>
        <p:nvSpPr>
          <p:cNvPr id="3" name="Text 1"/>
          <p:cNvSpPr txBox="1"/>
          <p:nvPr/>
        </p:nvSpPr>
        <p:spPr>
          <a:xfrm>
            <a:off x="310896" y="658368"/>
            <a:ext cx="8522208" cy="384048"/>
          </a:xfrm>
          <a:prstGeom prst="rect">
            <a:avLst/>
          </a:prstGeom>
          <a:noFill/>
          <a:ln/>
        </p:spPr>
        <p:txBody>
          <a:bodyPr wrap="square" rtlCol="0" anchor="ctr"/>
          <a:lstStyle/>
          <a:p>
            <a:pPr indent="0" marL="0">
              <a:buNone/>
            </a:pPr>
            <a:r>
              <a:rPr lang="en-US" sz="1600" b="1" dirty="0">
                <a:solidFill>
                  <a:srgbClr val="1A1A1A"/>
                </a:solidFill>
                <a:latin typeface="Times New Roman" pitchFamily="34" charset="0"/>
                <a:ea typeface="Times New Roman" pitchFamily="34" charset="-122"/>
                <a:cs typeface="Times New Roman" pitchFamily="34" charset="-120"/>
              </a:rPr>
              <a:t>Where this is</a:t>
            </a:r>
            <a:endParaRPr lang="en-US" sz="1600" dirty="0"/>
          </a:p>
        </p:txBody>
      </p:sp>
      <p:sp>
        <p:nvSpPr>
          <p:cNvPr id="4" name="Text 2"/>
          <p:cNvSpPr txBox="1"/>
          <p:nvPr/>
        </p:nvSpPr>
        <p:spPr>
          <a:xfrm>
            <a:off x="310896" y="1152144"/>
            <a:ext cx="8522208" cy="329184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task.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We take a recording from the glasses and produce two things. Where the object travelled through the room and the 3D points that make up the object. Nothing is marked on the object and nothing is labelled by hand.</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data.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Twelve recordings made on 8 October. Pouring from a jug, scooping with a spoon, picking up a tin and gripping a spoon three ways. Each task was recorded three times so a measurement can be checked against itself.</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This week.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The object's full pose. Not only where it is but which way it is turned, written as a 4 by 4 matrix for every frame of all thirteen tracked windows. That is 3,035 frames. Every matrix has been checked to be a genuine rigid body transform.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10896" y="274320"/>
            <a:ext cx="8522208" cy="411480"/>
          </a:xfrm>
          <a:prstGeom prst="rect">
            <a:avLst/>
          </a:prstGeom>
          <a:noFill/>
          <a:ln/>
        </p:spPr>
        <p:txBody>
          <a:bodyPr wrap="square" rtlCol="0" anchor="ctr"/>
          <a:lstStyle/>
          <a:p>
            <a:pPr indent="0" marL="0">
              <a:buNone/>
            </a:pPr>
            <a:r>
              <a:rPr lang="en-US" sz="1100" i="1" dirty="0">
                <a:solidFill>
                  <a:srgbClr val="5A5A5A"/>
                </a:solidFill>
                <a:latin typeface="Times New Roman" pitchFamily="34" charset="0"/>
                <a:ea typeface="Times New Roman" pitchFamily="34" charset="-122"/>
                <a:cs typeface="Times New Roman" pitchFamily="34" charset="-120"/>
              </a:rPr>
              <a:t>Caregiver Interface - Harsh (Sai)</a:t>
            </a:r>
            <a:endParaRPr lang="en-US" sz="1100" dirty="0"/>
          </a:p>
        </p:txBody>
      </p:sp>
      <p:sp>
        <p:nvSpPr>
          <p:cNvPr id="3" name="Text 1"/>
          <p:cNvSpPr txBox="1"/>
          <p:nvPr/>
        </p:nvSpPr>
        <p:spPr>
          <a:xfrm>
            <a:off x="310896" y="658368"/>
            <a:ext cx="8522208" cy="384048"/>
          </a:xfrm>
          <a:prstGeom prst="rect">
            <a:avLst/>
          </a:prstGeom>
          <a:noFill/>
          <a:ln/>
        </p:spPr>
        <p:txBody>
          <a:bodyPr wrap="square" rtlCol="0" anchor="ctr"/>
          <a:lstStyle/>
          <a:p>
            <a:pPr indent="0" marL="0">
              <a:buNone/>
            </a:pPr>
            <a:r>
              <a:rPr lang="en-US" sz="1600" b="1" dirty="0">
                <a:solidFill>
                  <a:srgbClr val="1A1A1A"/>
                </a:solidFill>
                <a:latin typeface="Times New Roman" pitchFamily="34" charset="0"/>
                <a:ea typeface="Times New Roman" pitchFamily="34" charset="-122"/>
                <a:cs typeface="Times New Roman" pitchFamily="34" charset="-120"/>
              </a:rPr>
              <a:t>What an SE(3) pose is</a:t>
            </a:r>
            <a:endParaRPr lang="en-US" sz="1600" dirty="0"/>
          </a:p>
        </p:txBody>
      </p:sp>
      <p:sp>
        <p:nvSpPr>
          <p:cNvPr id="4" name="Text 2"/>
          <p:cNvSpPr txBox="1"/>
          <p:nvPr/>
        </p:nvSpPr>
        <p:spPr>
          <a:xfrm>
            <a:off x="310896" y="1097280"/>
            <a:ext cx="5029200" cy="201168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A position is not enough.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Three numbers say where the jug is. They do not say whether it is upright or tipped out. For pouring the tilt is the whole task, so a recording of position alone is not a demonstration of pouring.</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A pose is both together.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R is 3 by 3 and holds which way the object is turned. t is 3 by 1 and holds where it is.</a:t>
            </a:r>
            <a:endParaRPr lang="en-US" sz="1200" dirty="0"/>
          </a:p>
        </p:txBody>
      </p:sp>
      <p:sp>
        <p:nvSpPr>
          <p:cNvPr id="5" name="Text 3"/>
          <p:cNvSpPr txBox="1"/>
          <p:nvPr/>
        </p:nvSpPr>
        <p:spPr>
          <a:xfrm>
            <a:off x="5577840" y="1234440"/>
            <a:ext cx="3200400" cy="914400"/>
          </a:xfrm>
          <a:prstGeom prst="rect">
            <a:avLst/>
          </a:prstGeom>
          <a:noFill/>
          <a:ln/>
        </p:spPr>
        <p:txBody>
          <a:bodyPr wrap="square" rtlCol="0" anchor="ctr"/>
          <a:lstStyle/>
          <a:p>
            <a:pPr algn="ctr" indent="0" marL="0">
              <a:buNone/>
            </a:pPr>
            <a:r>
              <a:rPr lang="en-US" sz="2000" b="1" dirty="0">
                <a:solidFill>
                  <a:srgbClr val="1A1A1A"/>
                </a:solidFill>
                <a:latin typeface="Courier New" pitchFamily="34" charset="0"/>
                <a:ea typeface="Courier New" pitchFamily="34" charset="-122"/>
                <a:cs typeface="Courier New" pitchFamily="34" charset="-120"/>
              </a:rPr>
              <a:t>T  =  [ R   t ]</a:t>
            </a:r>
            <a:endParaRPr lang="en-US" sz="2000" dirty="0"/>
          </a:p>
          <a:p>
            <a:pPr algn="ctr" indent="0" marL="0">
              <a:buNone/>
            </a:pPr>
            <a:r>
              <a:rPr lang="en-US" sz="2000" b="1" dirty="0">
                <a:solidFill>
                  <a:srgbClr val="1A1A1A"/>
                </a:solidFill>
                <a:latin typeface="Courier New" pitchFamily="34" charset="0"/>
                <a:ea typeface="Courier New" pitchFamily="34" charset="-122"/>
                <a:cs typeface="Courier New" pitchFamily="34" charset="-120"/>
              </a:rPr>
              <a:t>       [ 0   1 ]</a:t>
            </a:r>
            <a:endParaRPr lang="en-US" sz="2000" dirty="0"/>
          </a:p>
        </p:txBody>
      </p:sp>
      <p:sp>
        <p:nvSpPr>
          <p:cNvPr id="6" name="Text 4"/>
          <p:cNvSpPr txBox="1"/>
          <p:nvPr/>
        </p:nvSpPr>
        <p:spPr>
          <a:xfrm>
            <a:off x="5577840" y="2148840"/>
            <a:ext cx="3200400" cy="274320"/>
          </a:xfrm>
          <a:prstGeom prst="rect">
            <a:avLst/>
          </a:prstGeom>
          <a:noFill/>
          <a:ln/>
        </p:spPr>
        <p:txBody>
          <a:bodyPr wrap="square" rtlCol="0" anchor="ctr"/>
          <a:lstStyle/>
          <a:p>
            <a:pPr algn="ctr" indent="0" marL="0">
              <a:buNone/>
            </a:pPr>
            <a:r>
              <a:rPr lang="en-US" sz="1000" i="1" dirty="0">
                <a:solidFill>
                  <a:srgbClr val="5A5A5A"/>
                </a:solidFill>
                <a:latin typeface="Times New Roman" pitchFamily="34" charset="0"/>
                <a:ea typeface="Times New Roman" pitchFamily="34" charset="-122"/>
                <a:cs typeface="Times New Roman" pitchFamily="34" charset="-120"/>
              </a:rPr>
              <a:t>4 by 4, with R inside it as 3 by 3</a:t>
            </a:r>
            <a:endParaRPr lang="en-US" sz="1000" dirty="0"/>
          </a:p>
        </p:txBody>
      </p:sp>
      <p:sp>
        <p:nvSpPr>
          <p:cNvPr id="7" name="Text 5"/>
          <p:cNvSpPr txBox="1"/>
          <p:nvPr/>
        </p:nvSpPr>
        <p:spPr>
          <a:xfrm>
            <a:off x="310896" y="2743200"/>
            <a:ext cx="8522208" cy="210312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Why one 4 by 4 matrix.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Write a point as four numbers ending in 1 and the turn and the shift become a single multiplication, p' = T p. A sequence of movements is then a product of matrices. Undoing a movement is an inverse. That is what lets a measurement move between frames of reference without anybody tracking the bookkeeping by hand.</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Measured from the first frame.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Every pose we write is T(0) inverse times T(k), so the first row of every file is the identity. The numbers then read as the movement since the demonstration began.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10896" y="274320"/>
            <a:ext cx="8522208" cy="411480"/>
          </a:xfrm>
          <a:prstGeom prst="rect">
            <a:avLst/>
          </a:prstGeom>
          <a:noFill/>
          <a:ln/>
        </p:spPr>
        <p:txBody>
          <a:bodyPr wrap="square" rtlCol="0" anchor="ctr"/>
          <a:lstStyle/>
          <a:p>
            <a:pPr indent="0" marL="0">
              <a:buNone/>
            </a:pPr>
            <a:r>
              <a:rPr lang="en-US" sz="1100" i="1" dirty="0">
                <a:solidFill>
                  <a:srgbClr val="5A5A5A"/>
                </a:solidFill>
                <a:latin typeface="Times New Roman" pitchFamily="34" charset="0"/>
                <a:ea typeface="Times New Roman" pitchFamily="34" charset="-122"/>
                <a:cs typeface="Times New Roman" pitchFamily="34" charset="-120"/>
              </a:rPr>
              <a:t>Caregiver Interface - Harsh (Sai)</a:t>
            </a:r>
            <a:endParaRPr lang="en-US" sz="1100" dirty="0"/>
          </a:p>
        </p:txBody>
      </p:sp>
      <p:sp>
        <p:nvSpPr>
          <p:cNvPr id="3" name="Text 1"/>
          <p:cNvSpPr txBox="1"/>
          <p:nvPr/>
        </p:nvSpPr>
        <p:spPr>
          <a:xfrm>
            <a:off x="310896" y="658368"/>
            <a:ext cx="8522208" cy="384048"/>
          </a:xfrm>
          <a:prstGeom prst="rect">
            <a:avLst/>
          </a:prstGeom>
          <a:noFill/>
          <a:ln/>
        </p:spPr>
        <p:txBody>
          <a:bodyPr wrap="square" rtlCol="0" anchor="ctr"/>
          <a:lstStyle/>
          <a:p>
            <a:pPr indent="0" marL="0">
              <a:buNone/>
            </a:pPr>
            <a:r>
              <a:rPr lang="en-US" sz="1600" b="1" dirty="0">
                <a:solidFill>
                  <a:srgbClr val="1A1A1A"/>
                </a:solidFill>
                <a:latin typeface="Times New Roman" pitchFamily="34" charset="0"/>
                <a:ea typeface="Times New Roman" pitchFamily="34" charset="-122"/>
                <a:cs typeface="Times New Roman" pitchFamily="34" charset="-120"/>
              </a:rPr>
              <a:t>Where the rotation comes from</a:t>
            </a:r>
            <a:endParaRPr lang="en-US" sz="1600" dirty="0"/>
          </a:p>
        </p:txBody>
      </p:sp>
      <p:sp>
        <p:nvSpPr>
          <p:cNvPr id="4" name="Text 2"/>
          <p:cNvSpPr txBox="1"/>
          <p:nvPr/>
        </p:nvSpPr>
        <p:spPr>
          <a:xfrm>
            <a:off x="310896" y="1097280"/>
            <a:ext cx="8522208" cy="82296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glasses give two transforms directly.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Their own tracking says where the glasses are in the room. The hand tracker says where the wrist is relative to the glasses. Multiplying the two puts the hand in the room, which is what was asked for.</a:t>
            </a:r>
            <a:endParaRPr lang="en-US" sz="1200" dirty="0"/>
          </a:p>
        </p:txBody>
      </p:sp>
      <p:sp>
        <p:nvSpPr>
          <p:cNvPr id="5" name="Text 3"/>
          <p:cNvSpPr txBox="1"/>
          <p:nvPr/>
        </p:nvSpPr>
        <p:spPr>
          <a:xfrm>
            <a:off x="310896" y="1874520"/>
            <a:ext cx="8522208" cy="347472"/>
          </a:xfrm>
          <a:prstGeom prst="rect">
            <a:avLst/>
          </a:prstGeom>
          <a:noFill/>
          <a:ln/>
        </p:spPr>
        <p:txBody>
          <a:bodyPr wrap="square" rtlCol="0" anchor="ctr"/>
          <a:lstStyle/>
          <a:p>
            <a:pPr algn="ctr" indent="0" marL="0">
              <a:buNone/>
            </a:pPr>
            <a:r>
              <a:rPr lang="en-US" sz="1400" b="1" dirty="0">
                <a:solidFill>
                  <a:srgbClr val="1A1A1A"/>
                </a:solidFill>
                <a:latin typeface="Courier New" pitchFamily="34" charset="0"/>
                <a:ea typeface="Courier New" pitchFamily="34" charset="-122"/>
                <a:cs typeface="Courier New" pitchFamily="34" charset="-120"/>
              </a:rPr>
              <a:t>T room-wrist  =  T room-device  x  T device-wrist</a:t>
            </a:r>
            <a:endParaRPr lang="en-US" sz="1400" dirty="0"/>
          </a:p>
        </p:txBody>
      </p:sp>
      <p:sp>
        <p:nvSpPr>
          <p:cNvPr id="6" name="Text 4"/>
          <p:cNvSpPr txBox="1"/>
          <p:nvPr/>
        </p:nvSpPr>
        <p:spPr>
          <a:xfrm>
            <a:off x="310896" y="2286000"/>
            <a:ext cx="8522208" cy="68580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object is not the wrist.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While it is gripped it sits at some fixed offset X from the wrist. Nobody can measure X, so the object's movement since the first frame is X inverse times the wrist's movement times X.</a:t>
            </a:r>
            <a:endParaRPr lang="en-US" sz="1200" dirty="0"/>
          </a:p>
        </p:txBody>
      </p:sp>
      <p:sp>
        <p:nvSpPr>
          <p:cNvPr id="7" name="Text 5"/>
          <p:cNvSpPr txBox="1"/>
          <p:nvPr/>
        </p:nvSpPr>
        <p:spPr>
          <a:xfrm>
            <a:off x="310896" y="2926080"/>
            <a:ext cx="8522208" cy="347472"/>
          </a:xfrm>
          <a:prstGeom prst="rect">
            <a:avLst/>
          </a:prstGeom>
          <a:noFill/>
          <a:ln/>
        </p:spPr>
        <p:txBody>
          <a:bodyPr wrap="square" rtlCol="0" anchor="ctr"/>
          <a:lstStyle/>
          <a:p>
            <a:pPr algn="ctr" indent="0" marL="0">
              <a:buNone/>
            </a:pPr>
            <a:r>
              <a:rPr lang="en-US" sz="1400" b="1" dirty="0">
                <a:solidFill>
                  <a:srgbClr val="1A1A1A"/>
                </a:solidFill>
                <a:latin typeface="Courier New" pitchFamily="34" charset="0"/>
                <a:ea typeface="Courier New" pitchFamily="34" charset="-122"/>
                <a:cs typeface="Courier New" pitchFamily="34" charset="-120"/>
              </a:rPr>
              <a:t>object movement  =  X^-1  (  T wrist(0)^-1  T wrist(k)  )  X</a:t>
            </a:r>
            <a:endParaRPr lang="en-US" sz="1400" dirty="0"/>
          </a:p>
        </p:txBody>
      </p:sp>
      <p:sp>
        <p:nvSpPr>
          <p:cNvPr id="8" name="Text 6"/>
          <p:cNvSpPr txBox="1"/>
          <p:nvPr/>
        </p:nvSpPr>
        <p:spPr>
          <a:xfrm>
            <a:off x="310896" y="3337560"/>
            <a:ext cx="8522208" cy="155448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angle survives that.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Conjugating a rotation leaves its trace alone and the angle comes straight from the trace. So the object turns by exactly the same angle as the wrist whatever X happens to be. That is what makes the wrist's rotation worth reporting as the object's, and it is checked on real data on the next slide.</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position never touches the hand.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It comes from the object's own 3D points, which the pipeline already has in room coordinates.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10896" y="274320"/>
            <a:ext cx="8522208" cy="411480"/>
          </a:xfrm>
          <a:prstGeom prst="rect">
            <a:avLst/>
          </a:prstGeom>
          <a:noFill/>
          <a:ln/>
        </p:spPr>
        <p:txBody>
          <a:bodyPr wrap="square" rtlCol="0" anchor="ctr"/>
          <a:lstStyle/>
          <a:p>
            <a:pPr indent="0" marL="0">
              <a:buNone/>
            </a:pPr>
            <a:r>
              <a:rPr lang="en-US" sz="1100" i="1" dirty="0">
                <a:solidFill>
                  <a:srgbClr val="5A5A5A"/>
                </a:solidFill>
                <a:latin typeface="Times New Roman" pitchFamily="34" charset="0"/>
                <a:ea typeface="Times New Roman" pitchFamily="34" charset="-122"/>
                <a:cs typeface="Times New Roman" pitchFamily="34" charset="-120"/>
              </a:rPr>
              <a:t>Caregiver Interface - Harsh (Sai)</a:t>
            </a:r>
            <a:endParaRPr lang="en-US" sz="1100" dirty="0"/>
          </a:p>
        </p:txBody>
      </p:sp>
      <p:sp>
        <p:nvSpPr>
          <p:cNvPr id="3" name="Text 1"/>
          <p:cNvSpPr txBox="1"/>
          <p:nvPr/>
        </p:nvSpPr>
        <p:spPr>
          <a:xfrm>
            <a:off x="310896" y="658368"/>
            <a:ext cx="8522208" cy="384048"/>
          </a:xfrm>
          <a:prstGeom prst="rect">
            <a:avLst/>
          </a:prstGeom>
          <a:noFill/>
          <a:ln/>
        </p:spPr>
        <p:txBody>
          <a:bodyPr wrap="square" rtlCol="0" anchor="ctr"/>
          <a:lstStyle/>
          <a:p>
            <a:pPr indent="0" marL="0">
              <a:buNone/>
            </a:pPr>
            <a:r>
              <a:rPr lang="en-US" sz="1600" b="1" dirty="0">
                <a:solidFill>
                  <a:srgbClr val="1A1A1A"/>
                </a:solidFill>
                <a:latin typeface="Times New Roman" pitchFamily="34" charset="0"/>
                <a:ea typeface="Times New Roman" pitchFamily="34" charset="-122"/>
                <a:cs typeface="Times New Roman" pitchFamily="34" charset="-120"/>
              </a:rPr>
              <a:t>Proof that these really are rigid body transforms</a:t>
            </a:r>
            <a:endParaRPr lang="en-US" sz="1600" dirty="0"/>
          </a:p>
        </p:txBody>
      </p:sp>
      <p:sp>
        <p:nvSpPr>
          <p:cNvPr id="4" name="Text 2"/>
          <p:cNvSpPr txBox="1"/>
          <p:nvPr/>
        </p:nvSpPr>
        <p:spPr>
          <a:xfrm>
            <a:off x="310896" y="1024128"/>
            <a:ext cx="8522208" cy="274320"/>
          </a:xfrm>
          <a:prstGeom prst="rect">
            <a:avLst/>
          </a:prstGeom>
          <a:noFill/>
          <a:ln/>
        </p:spPr>
        <p:txBody>
          <a:bodyPr wrap="square" rtlCol="0" anchor="t"/>
          <a:lstStyle/>
          <a:p>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Run on the committed pose files. Every property is tested on every frame.</a:t>
            </a:r>
            <a:endParaRPr lang="en-US" sz="1200" dirty="0"/>
          </a:p>
        </p:txBody>
      </p:sp>
      <p:sp>
        <p:nvSpPr>
          <p:cNvPr id="5" name="Text 3"/>
          <p:cNvSpPr txBox="1"/>
          <p:nvPr/>
        </p:nvSpPr>
        <p:spPr>
          <a:xfrm>
            <a:off x="310896" y="1298448"/>
            <a:ext cx="8522208" cy="237744"/>
          </a:xfrm>
          <a:prstGeom prst="rect">
            <a:avLst/>
          </a:prstGeom>
          <a:noFill/>
          <a:ln/>
        </p:spPr>
        <p:txBody>
          <a:bodyPr wrap="square" rtlCol="0" anchor="ctr"/>
          <a:lstStyle/>
          <a:p>
            <a:pPr indent="0" marL="0">
              <a:buNone/>
            </a:pPr>
            <a:r>
              <a:rPr lang="en-US" sz="1000" b="1" dirty="0">
                <a:solidFill>
                  <a:srgbClr val="5A5A5A"/>
                </a:solidFill>
                <a:latin typeface="Courier New" pitchFamily="34" charset="0"/>
                <a:ea typeface="Courier New" pitchFamily="34" charset="-122"/>
                <a:cs typeface="Courier New" pitchFamily="34" charset="-120"/>
              </a:rPr>
              <a:t>$ python3 tools/object_pose.py --check</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10896" y="1645920"/>
          <a:ext cx="8522208" cy="914400"/>
        </p:xfrm>
        <a:graphic>
          <a:graphicData uri="http://schemas.openxmlformats.org/drawingml/2006/table">
            <a:tbl>
              <a:tblPr/>
              <a:tblGrid>
                <a:gridCol w="2743200"/>
                <a:gridCol w="1005840"/>
                <a:gridCol w="4773168"/>
              </a:tblGrid>
              <a:tr h="237744">
                <a:tc>
                  <a:txBody>
                    <a:bodyPr/>
                    <a:lstStyle/>
                    <a:p>
                      <a:pPr indent="0" marL="0">
                        <a:buNone/>
                      </a:pPr>
                      <a:r>
                        <a:rPr lang="en-US" sz="1050" b="1" dirty="0">
                          <a:solidFill>
                            <a:srgbClr val="1A1A1A"/>
                          </a:solidFill>
                          <a:latin typeface="Times New Roman" pitchFamily="34" charset="0"/>
                          <a:ea typeface="Times New Roman" pitchFamily="34" charset="-122"/>
                          <a:cs typeface="Times New Roman" pitchFamily="34" charset="-120"/>
                        </a:rPr>
                        <a:t>property</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b="1" dirty="0">
                          <a:solidFill>
                            <a:srgbClr val="1A1A1A"/>
                          </a:solidFill>
                          <a:latin typeface="Times New Roman" pitchFamily="34" charset="0"/>
                          <a:ea typeface="Times New Roman" pitchFamily="34" charset="-122"/>
                          <a:cs typeface="Times New Roman" pitchFamily="34" charset="-120"/>
                        </a:rPr>
                        <a:t>worst error</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b="1" dirty="0">
                          <a:solidFill>
                            <a:srgbClr val="1A1A1A"/>
                          </a:solidFill>
                          <a:latin typeface="Times New Roman" pitchFamily="34" charset="0"/>
                          <a:ea typeface="Times New Roman" pitchFamily="34" charset="-122"/>
                          <a:cs typeface="Times New Roman" pitchFamily="34" charset="-120"/>
                        </a:rPr>
                        <a:t>why it matters</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237744">
                <a:tc>
                  <a:txBody>
                    <a:bodyPr/>
                    <a:lstStyle/>
                    <a:p>
                      <a:pPr indent="0" marL="0">
                        <a:buNone/>
                      </a:pPr>
                      <a:r>
                        <a:rPr lang="en-US" sz="1050" dirty="0">
                          <a:solidFill>
                            <a:srgbClr val="1A1A1A"/>
                          </a:solidFill>
                          <a:latin typeface="Courier New" pitchFamily="34" charset="0"/>
                          <a:ea typeface="Courier New" pitchFamily="34" charset="-122"/>
                          <a:cs typeface="Courier New" pitchFamily="34" charset="-120"/>
                        </a:rPr>
                        <a:t>R R^T = I</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1A1A1A"/>
                          </a:solidFill>
                          <a:latin typeface="Courier New" pitchFamily="34" charset="0"/>
                          <a:ea typeface="Courier New" pitchFamily="34" charset="-122"/>
                          <a:cs typeface="Courier New" pitchFamily="34" charset="-120"/>
                        </a:rPr>
                        <a:t>2.1e-06</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1A1A1A"/>
                          </a:solidFill>
                          <a:latin typeface="Times New Roman" pitchFamily="34" charset="0"/>
                          <a:ea typeface="Times New Roman" pitchFamily="34" charset="-122"/>
                          <a:cs typeface="Times New Roman" pitchFamily="34" charset="-120"/>
                        </a:rPr>
                        <a:t>a rotation preserves every length and angle</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237744">
                <a:tc>
                  <a:txBody>
                    <a:bodyPr/>
                    <a:lstStyle/>
                    <a:p>
                      <a:pPr indent="0" marL="0">
                        <a:buNone/>
                      </a:pPr>
                      <a:r>
                        <a:rPr lang="en-US" sz="1050" dirty="0">
                          <a:solidFill>
                            <a:srgbClr val="1A1A1A"/>
                          </a:solidFill>
                          <a:latin typeface="Courier New" pitchFamily="34" charset="0"/>
                          <a:ea typeface="Courier New" pitchFamily="34" charset="-122"/>
                          <a:cs typeface="Courier New" pitchFamily="34" charset="-120"/>
                        </a:rPr>
                        <a:t>det R = +1</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1A1A1A"/>
                          </a:solidFill>
                          <a:latin typeface="Courier New" pitchFamily="34" charset="0"/>
                          <a:ea typeface="Courier New" pitchFamily="34" charset="-122"/>
                          <a:cs typeface="Courier New" pitchFamily="34" charset="-120"/>
                        </a:rPr>
                        <a:t>2.0e-06</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1A1A1A"/>
                          </a:solidFill>
                          <a:latin typeface="Times New Roman" pitchFamily="34" charset="0"/>
                          <a:ea typeface="Times New Roman" pitchFamily="34" charset="-122"/>
                          <a:cs typeface="Times New Roman" pitchFamily="34" charset="-120"/>
                        </a:rPr>
                        <a:t>a reflection is not a movement</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237744">
                <a:tc>
                  <a:txBody>
                    <a:bodyPr/>
                    <a:lstStyle/>
                    <a:p>
                      <a:pPr indent="0" marL="0">
                        <a:buNone/>
                      </a:pPr>
                      <a:r>
                        <a:rPr lang="en-US" sz="1050" dirty="0">
                          <a:solidFill>
                            <a:srgbClr val="1A1A1A"/>
                          </a:solidFill>
                          <a:latin typeface="Courier New" pitchFamily="34" charset="0"/>
                          <a:ea typeface="Courier New" pitchFamily="34" charset="-122"/>
                          <a:cs typeface="Courier New" pitchFamily="34" charset="-120"/>
                        </a:rPr>
                        <a:t>T(0) = I</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1A1A1A"/>
                          </a:solidFill>
                          <a:latin typeface="Courier New" pitchFamily="34" charset="0"/>
                          <a:ea typeface="Courier New" pitchFamily="34" charset="-122"/>
                          <a:cs typeface="Courier New" pitchFamily="34" charset="-120"/>
                        </a:rPr>
                        <a:t>0.0e+00</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1A1A1A"/>
                          </a:solidFill>
                          <a:latin typeface="Times New Roman" pitchFamily="34" charset="0"/>
                          <a:ea typeface="Times New Roman" pitchFamily="34" charset="-122"/>
                          <a:cs typeface="Times New Roman" pitchFamily="34" charset="-120"/>
                        </a:rPr>
                        <a:t>the pose is relative to the first frame</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237744">
                <a:tc>
                  <a:txBody>
                    <a:bodyPr/>
                    <a:lstStyle/>
                    <a:p>
                      <a:pPr indent="0" marL="0">
                        <a:buNone/>
                      </a:pPr>
                      <a:r>
                        <a:rPr lang="en-US" sz="1050" dirty="0">
                          <a:solidFill>
                            <a:srgbClr val="1A1A1A"/>
                          </a:solidFill>
                          <a:latin typeface="Courier New" pitchFamily="34" charset="0"/>
                          <a:ea typeface="Courier New" pitchFamily="34" charset="-122"/>
                          <a:cs typeface="Courier New" pitchFamily="34" charset="-120"/>
                        </a:rPr>
                        <a:t>theta = arccos((tr R - 1)/2)</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1A1A1A"/>
                          </a:solidFill>
                          <a:latin typeface="Courier New" pitchFamily="34" charset="0"/>
                          <a:ea typeface="Courier New" pitchFamily="34" charset="-122"/>
                          <a:cs typeface="Courier New" pitchFamily="34" charset="-120"/>
                        </a:rPr>
                        <a:t>5.1e-03</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1A1A1A"/>
                          </a:solidFill>
                          <a:latin typeface="Times New Roman" pitchFamily="34" charset="0"/>
                          <a:ea typeface="Times New Roman" pitchFamily="34" charset="-122"/>
                          <a:cs typeface="Times New Roman" pitchFamily="34" charset="-120"/>
                        </a:rPr>
                        <a:t>the angle column matches the matrix</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237744">
                <a:tc>
                  <a:txBody>
                    <a:bodyPr/>
                    <a:lstStyle/>
                    <a:p>
                      <a:pPr indent="0" marL="0">
                        <a:buNone/>
                      </a:pPr>
                      <a:r>
                        <a:rPr lang="en-US" sz="1050" dirty="0">
                          <a:solidFill>
                            <a:srgbClr val="1A1A1A"/>
                          </a:solidFill>
                          <a:latin typeface="Courier New" pitchFamily="34" charset="0"/>
                          <a:ea typeface="Courier New" pitchFamily="34" charset="-122"/>
                          <a:cs typeface="Courier New" pitchFamily="34" charset="-120"/>
                        </a:rPr>
                        <a:t>|axis| = 1</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1A1A1A"/>
                          </a:solidFill>
                          <a:latin typeface="Courier New" pitchFamily="34" charset="0"/>
                          <a:ea typeface="Courier New" pitchFamily="34" charset="-122"/>
                          <a:cs typeface="Courier New" pitchFamily="34" charset="-120"/>
                        </a:rPr>
                        <a:t>7.9e-06</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1A1A1A"/>
                          </a:solidFill>
                          <a:latin typeface="Times New Roman" pitchFamily="34" charset="0"/>
                          <a:ea typeface="Times New Roman" pitchFamily="34" charset="-122"/>
                          <a:cs typeface="Times New Roman" pitchFamily="34" charset="-120"/>
                        </a:rPr>
                        <a:t>the axis is a direction</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237744">
                <a:tc>
                  <a:txBody>
                    <a:bodyPr/>
                    <a:lstStyle/>
                    <a:p>
                      <a:pPr indent="0" marL="0">
                        <a:buNone/>
                      </a:pPr>
                      <a:r>
                        <a:rPr lang="en-US" sz="1050" dirty="0">
                          <a:solidFill>
                            <a:srgbClr val="1A1A1A"/>
                          </a:solidFill>
                          <a:latin typeface="Courier New" pitchFamily="34" charset="0"/>
                          <a:ea typeface="Courier New" pitchFamily="34" charset="-122"/>
                          <a:cs typeface="Courier New" pitchFamily="34" charset="-120"/>
                        </a:rPr>
                        <a:t>T^-1 T = I,  T^-1 = [R^T, -R^T t]</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1A1A1A"/>
                          </a:solidFill>
                          <a:latin typeface="Courier New" pitchFamily="34" charset="0"/>
                          <a:ea typeface="Courier New" pitchFamily="34" charset="-122"/>
                          <a:cs typeface="Courier New" pitchFamily="34" charset="-120"/>
                        </a:rPr>
                        <a:t>1.9e-06</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1A1A1A"/>
                          </a:solidFill>
                          <a:latin typeface="Times New Roman" pitchFamily="34" charset="0"/>
                          <a:ea typeface="Times New Roman" pitchFamily="34" charset="-122"/>
                          <a:cs typeface="Times New Roman" pitchFamily="34" charset="-120"/>
                        </a:rPr>
                        <a:t>undoing a movement</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237744">
                <a:tc>
                  <a:txBody>
                    <a:bodyPr/>
                    <a:lstStyle/>
                    <a:p>
                      <a:pPr indent="0" marL="0">
                        <a:buNone/>
                      </a:pPr>
                      <a:r>
                        <a:rPr lang="en-US" sz="1050" dirty="0">
                          <a:solidFill>
                            <a:srgbClr val="1A1A1A"/>
                          </a:solidFill>
                          <a:latin typeface="Courier New" pitchFamily="34" charset="0"/>
                          <a:ea typeface="Courier New" pitchFamily="34" charset="-122"/>
                          <a:cs typeface="Courier New" pitchFamily="34" charset="-120"/>
                        </a:rPr>
                        <a:t>T(a-&gt;b) T(b-&gt;c) = T(a-&gt;c)</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1A1A1A"/>
                          </a:solidFill>
                          <a:latin typeface="Courier New" pitchFamily="34" charset="0"/>
                          <a:ea typeface="Courier New" pitchFamily="34" charset="-122"/>
                          <a:cs typeface="Courier New" pitchFamily="34" charset="-120"/>
                        </a:rPr>
                        <a:t>1.8e-06</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1A1A1A"/>
                          </a:solidFill>
                          <a:latin typeface="Times New Roman" pitchFamily="34" charset="0"/>
                          <a:ea typeface="Times New Roman" pitchFamily="34" charset="-122"/>
                          <a:cs typeface="Times New Roman" pitchFamily="34" charset="-120"/>
                        </a:rPr>
                        <a:t>movements chain by multiplying</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r h="237744">
                <a:tc>
                  <a:txBody>
                    <a:bodyPr/>
                    <a:lstStyle/>
                    <a:p>
                      <a:pPr indent="0" marL="0">
                        <a:buNone/>
                      </a:pPr>
                      <a:r>
                        <a:rPr lang="en-US" sz="1050" dirty="0">
                          <a:solidFill>
                            <a:srgbClr val="1A1A1A"/>
                          </a:solidFill>
                          <a:latin typeface="Courier New" pitchFamily="34" charset="0"/>
                          <a:ea typeface="Courier New" pitchFamily="34" charset="-122"/>
                          <a:cs typeface="Courier New" pitchFamily="34" charset="-120"/>
                        </a:rPr>
                        <a:t>angle(X^-1 R X) = angle(R)</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050" dirty="0">
                          <a:solidFill>
                            <a:srgbClr val="1A1A1A"/>
                          </a:solidFill>
                          <a:latin typeface="Courier New" pitchFamily="34" charset="0"/>
                          <a:ea typeface="Courier New" pitchFamily="34" charset="-122"/>
                          <a:cs typeface="Courier New" pitchFamily="34" charset="-120"/>
                        </a:rPr>
                        <a:t>1.2e-06</a:t>
                      </a:r>
                      <a:endParaRPr lang="en-US" sz="105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1A1A1A"/>
                          </a:solidFill>
                          <a:latin typeface="Times New Roman" pitchFamily="34" charset="0"/>
                          <a:ea typeface="Times New Roman" pitchFamily="34" charset="-122"/>
                          <a:cs typeface="Times New Roman" pitchFamily="34" charset="-120"/>
                        </a:rPr>
                        <a:t>the object turns as far as the wrist</a:t>
                      </a:r>
                      <a:endParaRPr lang="en-US" sz="1050" dirty="0">
                        <a:latin typeface="Times New Roman" charset="0"/>
                        <a:ea typeface="Times New Roman" charset="0"/>
                        <a:cs typeface="Times New Roman" charset="0"/>
                      </a:endParaRPr>
                    </a:p>
                  </a:txBody>
                  <a:tcPr marL="91440" marR="91440" marT="45720" marB="45720" anchor="ctr">
                    <a:lnL w="0" cap="flat" cmpd="sng" algn="ctr">
                      <a:noFill/>
                    </a:lnL>
                    <a:lnR w="0" cap="flat" cmpd="sng" algn="ctr">
                      <a:noFill/>
                    </a:lnR>
                    <a:lnT w="0" cap="flat" cmpd="sng" algn="ctr">
                      <a:noFill/>
                    </a:lnT>
                    <a:lnB w="0" cap="flat" cmpd="sng" algn="ctr">
                      <a:noFill/>
                    </a:lnB>
                  </a:tcPr>
                </a:tc>
              </a:tr>
            </a:tbl>
          </a:graphicData>
        </a:graphic>
      </p:graphicFrame>
      <p:sp>
        <p:nvSpPr>
          <p:cNvPr id="7" name="Text 4"/>
          <p:cNvSpPr txBox="1"/>
          <p:nvPr/>
        </p:nvSpPr>
        <p:spPr>
          <a:xfrm>
            <a:off x="310896" y="4251960"/>
            <a:ext cx="8522208" cy="640080"/>
          </a:xfrm>
          <a:prstGeom prst="rect">
            <a:avLst/>
          </a:prstGeom>
          <a:noFill/>
          <a:ln/>
        </p:spPr>
        <p:txBody>
          <a:bodyPr wrap="square" rtlCol="0" anchor="t"/>
          <a:lstStyle/>
          <a:p>
            <a:pPr indent="0" marL="0">
              <a:lnSpc>
                <a:spcPct val="112000"/>
              </a:lnSpc>
              <a:spcAft>
                <a:spcPts val="600"/>
              </a:spcAft>
              <a:buNone/>
            </a:pPr>
            <a:r>
              <a:rPr lang="en-US" sz="1100" dirty="0">
                <a:solidFill>
                  <a:srgbClr val="1A1A1A"/>
                </a:solidFill>
                <a:latin typeface="Times New Roman" pitchFamily="34" charset="0"/>
                <a:ea typeface="Times New Roman" pitchFamily="34" charset="-122"/>
                <a:cs typeface="Times New Roman" pitchFamily="34" charset="-120"/>
              </a:rPr>
              <a:t>3,035 frames across 13 recordings. Every property holds to the precision the file stores, which is six decimal places on the matrix and two on the angle column. Nothing on this slide is asserted.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10896" y="274320"/>
            <a:ext cx="8522208" cy="411480"/>
          </a:xfrm>
          <a:prstGeom prst="rect">
            <a:avLst/>
          </a:prstGeom>
          <a:noFill/>
          <a:ln/>
        </p:spPr>
        <p:txBody>
          <a:bodyPr wrap="square" rtlCol="0" anchor="ctr"/>
          <a:lstStyle/>
          <a:p>
            <a:pPr indent="0" marL="0">
              <a:buNone/>
            </a:pPr>
            <a:r>
              <a:rPr lang="en-US" sz="1100" i="1" dirty="0">
                <a:solidFill>
                  <a:srgbClr val="5A5A5A"/>
                </a:solidFill>
                <a:latin typeface="Times New Roman" pitchFamily="34" charset="0"/>
                <a:ea typeface="Times New Roman" pitchFamily="34" charset="-122"/>
                <a:cs typeface="Times New Roman" pitchFamily="34" charset="-120"/>
              </a:rPr>
              <a:t>Caregiver Interface - Harsh (Sai)</a:t>
            </a:r>
            <a:endParaRPr lang="en-US" sz="1100" dirty="0"/>
          </a:p>
        </p:txBody>
      </p:sp>
      <p:sp>
        <p:nvSpPr>
          <p:cNvPr id="3" name="Text 1"/>
          <p:cNvSpPr txBox="1"/>
          <p:nvPr/>
        </p:nvSpPr>
        <p:spPr>
          <a:xfrm>
            <a:off x="310896" y="658368"/>
            <a:ext cx="8522208" cy="384048"/>
          </a:xfrm>
          <a:prstGeom prst="rect">
            <a:avLst/>
          </a:prstGeom>
          <a:noFill/>
          <a:ln/>
        </p:spPr>
        <p:txBody>
          <a:bodyPr wrap="square" rtlCol="0" anchor="ctr"/>
          <a:lstStyle/>
          <a:p>
            <a:pPr indent="0" marL="0">
              <a:buNone/>
            </a:pPr>
            <a:r>
              <a:rPr lang="en-US" sz="1600" b="1" dirty="0">
                <a:solidFill>
                  <a:srgbClr val="1A1A1A"/>
                </a:solidFill>
                <a:latin typeface="Times New Roman" pitchFamily="34" charset="0"/>
                <a:ea typeface="Times New Roman" pitchFamily="34" charset="-122"/>
                <a:cs typeface="Times New Roman" pitchFamily="34" charset="-120"/>
              </a:rPr>
              <a:t>A moving object: a jug tipped over a bowl</a:t>
            </a:r>
            <a:endParaRPr lang="en-US" sz="1600" dirty="0"/>
          </a:p>
        </p:txBody>
      </p:sp>
      <p:sp>
        <p:nvSpPr>
          <p:cNvPr id="4" name="Text 2"/>
          <p:cNvSpPr txBox="1"/>
          <p:nvPr/>
        </p:nvSpPr>
        <p:spPr>
          <a:xfrm>
            <a:off x="310896" y="1097280"/>
            <a:ext cx="3657600" cy="356616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What it shows.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The jug turned 112 degrees and finished 5 cm from where it started. The turn is the task. The position barely moves, so a recording of position alone would have missed this demonstration entirely.</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Reading it.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Top left is how far it has turned since the first frame. Top right is the axis it turned about, which settles onto one steady direction between 2 and 7 seconds while the jug is tipped and comes back. Bottom left is the translation. Bottom right is the matrix itself at three moments.</a:t>
            </a:r>
            <a:endParaRPr lang="en-US" sz="1200" dirty="0"/>
          </a:p>
        </p:txBody>
      </p:sp>
      <p:pic>
        <p:nvPicPr>
          <p:cNvPr id="5" name="Image 0" descr="/Users/harshdas/Desktop/Rinzler/Stony Brook University/Advanced Project/Meta-Aria-Gen-2-Robotics/outputs/object_pour_02_pose.png">    </p:cNvPr>
          <p:cNvPicPr>
            <a:picLocks noChangeAspect="1"/>
          </p:cNvPicPr>
          <p:nvPr/>
        </p:nvPicPr>
        <p:blipFill>
          <a:blip r:embed="rId1"/>
          <a:stretch>
            <a:fillRect/>
          </a:stretch>
        </p:blipFill>
        <p:spPr>
          <a:xfrm>
            <a:off x="4206240" y="1152144"/>
            <a:ext cx="4526280" cy="3145536"/>
          </a:xfrm>
          <a:prstGeom prst="rect">
            <a:avLst/>
          </a:prstGeom>
        </p:spPr>
      </p:pic>
      <p:sp>
        <p:nvSpPr>
          <p:cNvPr id="6" name="Text 3"/>
          <p:cNvSpPr txBox="1"/>
          <p:nvPr/>
        </p:nvSpPr>
        <p:spPr>
          <a:xfrm>
            <a:off x="4206240" y="4352544"/>
            <a:ext cx="4526280" cy="237744"/>
          </a:xfrm>
          <a:prstGeom prst="rect">
            <a:avLst/>
          </a:prstGeom>
          <a:noFill/>
          <a:ln/>
        </p:spPr>
        <p:txBody>
          <a:bodyPr wrap="square" rtlCol="0" anchor="ctr"/>
          <a:lstStyle/>
          <a:p>
            <a:pPr algn="ctr" indent="0" marL="0">
              <a:buNone/>
            </a:pPr>
            <a:r>
              <a:rPr lang="en-US" sz="900" i="1" dirty="0">
                <a:solidFill>
                  <a:srgbClr val="5A5A5A"/>
                </a:solidFill>
                <a:latin typeface="Times New Roman" pitchFamily="34" charset="0"/>
                <a:ea typeface="Times New Roman" pitchFamily="34" charset="-122"/>
                <a:cs typeface="Times New Roman" pitchFamily="34" charset="-120"/>
              </a:rPr>
              <a:t>outputs/object_pour_02_pose.png, drawn by tools/render_pose.py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10896" y="274320"/>
            <a:ext cx="8522208" cy="411480"/>
          </a:xfrm>
          <a:prstGeom prst="rect">
            <a:avLst/>
          </a:prstGeom>
          <a:noFill/>
          <a:ln/>
        </p:spPr>
        <p:txBody>
          <a:bodyPr wrap="square" rtlCol="0" anchor="ctr"/>
          <a:lstStyle/>
          <a:p>
            <a:pPr indent="0" marL="0">
              <a:buNone/>
            </a:pPr>
            <a:r>
              <a:rPr lang="en-US" sz="1100" i="1" dirty="0">
                <a:solidFill>
                  <a:srgbClr val="5A5A5A"/>
                </a:solidFill>
                <a:latin typeface="Times New Roman" pitchFamily="34" charset="0"/>
                <a:ea typeface="Times New Roman" pitchFamily="34" charset="-122"/>
                <a:cs typeface="Times New Roman" pitchFamily="34" charset="-120"/>
              </a:rPr>
              <a:t>Caregiver Interface - Harsh (Sai)</a:t>
            </a:r>
            <a:endParaRPr lang="en-US" sz="1100" dirty="0"/>
          </a:p>
        </p:txBody>
      </p:sp>
      <p:sp>
        <p:nvSpPr>
          <p:cNvPr id="3" name="Text 1"/>
          <p:cNvSpPr txBox="1"/>
          <p:nvPr/>
        </p:nvSpPr>
        <p:spPr>
          <a:xfrm>
            <a:off x="310896" y="658368"/>
            <a:ext cx="8522208" cy="384048"/>
          </a:xfrm>
          <a:prstGeom prst="rect">
            <a:avLst/>
          </a:prstGeom>
          <a:noFill/>
          <a:ln/>
        </p:spPr>
        <p:txBody>
          <a:bodyPr wrap="square" rtlCol="0" anchor="ctr"/>
          <a:lstStyle/>
          <a:p>
            <a:pPr indent="0" marL="0">
              <a:buNone/>
            </a:pPr>
            <a:r>
              <a:rPr lang="en-US" sz="1600" b="1" dirty="0">
                <a:solidFill>
                  <a:srgbClr val="1A1A1A"/>
                </a:solidFill>
                <a:latin typeface="Times New Roman" pitchFamily="34" charset="0"/>
                <a:ea typeface="Times New Roman" pitchFamily="34" charset="-122"/>
                <a:cs typeface="Times New Roman" pitchFamily="34" charset="-120"/>
              </a:rPr>
              <a:t>A static object: the red bowl nobody touches</a:t>
            </a:r>
            <a:endParaRPr lang="en-US" sz="1600" dirty="0"/>
          </a:p>
        </p:txBody>
      </p:sp>
      <p:sp>
        <p:nvSpPr>
          <p:cNvPr id="4" name="Text 2"/>
          <p:cNvSpPr txBox="1"/>
          <p:nvPr/>
        </p:nvSpPr>
        <p:spPr>
          <a:xfrm>
            <a:off x="310896" y="1097280"/>
            <a:ext cx="8522208" cy="374904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Both cases were asked for.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scoop_01 holds a red bowl that is never picked up. A thing that does not move has one pose for the whole window, so there is nothing to track frame by frame.</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code decides by measuring.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The bowl's own 3D points move through a box 6.1 cm across over the window. That is below the 10 cm line separating a resting object from a carried one, so it is given one fixed pose. Carried objects in these recordings measure 15 cm and upwards, so the line has room on both sides.</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That makes the bowl the error bar.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A thing that never moves should measure zero movement. Seen through the glasses it appears to travel through a box 13.9 cm across, purely because the wearer's head moves. Converted into room coordinates that falls to 6.1 cm and the typical frame is out by 0.69 cm.</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So 0.69 cm is the number.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That is the error on every object position this project reports. It was measured on a real object and nothing about it was assumed.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10896" y="274320"/>
            <a:ext cx="8522208" cy="411480"/>
          </a:xfrm>
          <a:prstGeom prst="rect">
            <a:avLst/>
          </a:prstGeom>
          <a:noFill/>
          <a:ln/>
        </p:spPr>
        <p:txBody>
          <a:bodyPr wrap="square" rtlCol="0" anchor="ctr"/>
          <a:lstStyle/>
          <a:p>
            <a:pPr indent="0" marL="0">
              <a:buNone/>
            </a:pPr>
            <a:r>
              <a:rPr lang="en-US" sz="1100" i="1" dirty="0">
                <a:solidFill>
                  <a:srgbClr val="5A5A5A"/>
                </a:solidFill>
                <a:latin typeface="Times New Roman" pitchFamily="34" charset="0"/>
                <a:ea typeface="Times New Roman" pitchFamily="34" charset="-122"/>
                <a:cs typeface="Times New Roman" pitchFamily="34" charset="-120"/>
              </a:rPr>
              <a:t>Caregiver Interface - Harsh (Sai)</a:t>
            </a:r>
            <a:endParaRPr lang="en-US" sz="1100" dirty="0"/>
          </a:p>
        </p:txBody>
      </p:sp>
      <p:sp>
        <p:nvSpPr>
          <p:cNvPr id="3" name="Text 1"/>
          <p:cNvSpPr txBox="1"/>
          <p:nvPr/>
        </p:nvSpPr>
        <p:spPr>
          <a:xfrm>
            <a:off x="310896" y="658368"/>
            <a:ext cx="8522208" cy="384048"/>
          </a:xfrm>
          <a:prstGeom prst="rect">
            <a:avLst/>
          </a:prstGeom>
          <a:noFill/>
          <a:ln/>
        </p:spPr>
        <p:txBody>
          <a:bodyPr wrap="square" rtlCol="0" anchor="ctr"/>
          <a:lstStyle/>
          <a:p>
            <a:pPr indent="0" marL="0">
              <a:buNone/>
            </a:pPr>
            <a:r>
              <a:rPr lang="en-US" sz="1600" b="1" dirty="0">
                <a:solidFill>
                  <a:srgbClr val="1A1A1A"/>
                </a:solidFill>
                <a:latin typeface="Times New Roman" pitchFamily="34" charset="0"/>
                <a:ea typeface="Times New Roman" pitchFamily="34" charset="-122"/>
                <a:cs typeface="Times New Roman" pitchFamily="34" charset="-120"/>
              </a:rPr>
              <a:t>The two deliverables, on pick_02</a:t>
            </a:r>
            <a:endParaRPr lang="en-US" sz="1600" dirty="0"/>
          </a:p>
        </p:txBody>
      </p:sp>
      <p:sp>
        <p:nvSpPr>
          <p:cNvPr id="4" name="Text 2"/>
          <p:cNvSpPr txBox="1"/>
          <p:nvPr/>
        </p:nvSpPr>
        <p:spPr>
          <a:xfrm>
            <a:off x="310896" y="1097280"/>
            <a:ext cx="3657600" cy="3566160"/>
          </a:xfrm>
          <a:prstGeom prst="rect">
            <a:avLst/>
          </a:prstGeom>
          <a:noFill/>
          <a:ln/>
        </p:spPr>
        <p:txBody>
          <a:bodyPr wrap="square" rtlCol="0" anchor="t"/>
          <a:lstStyle/>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One frame.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The side both cameras could see at one instant. There is no depth sensor on these glasses, so depth comes from comparing the two front cameras and neither can see round the back.</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object.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Every frame carried back into the object's own frame, where the object stands still and the path falls away. Drawn as a density because a hundred thousand dots paint a solid block. The dark core is the tin. The pale halo is stereo noise, and that halo is where the haze comes from.</a:t>
            </a:r>
            <a:endParaRPr lang="en-US" sz="1200" dirty="0"/>
          </a:p>
          <a:p>
            <a:pPr indent="0" marL="0">
              <a:lnSpc>
                <a:spcPct val="112000"/>
              </a:lnSpc>
              <a:spcAft>
                <a:spcPts val="600"/>
              </a:spcAft>
              <a:buNone/>
            </a:pPr>
            <a:r>
              <a:rPr lang="en-US" sz="1200" b="1" dirty="0">
                <a:solidFill>
                  <a:srgbClr val="1A1A1A"/>
                </a:solidFill>
                <a:latin typeface="Times New Roman" pitchFamily="34" charset="0"/>
                <a:ea typeface="Times New Roman" pitchFamily="34" charset="-122"/>
                <a:cs typeface="Times New Roman" pitchFamily="34" charset="-120"/>
              </a:rPr>
              <a:t>The path.  </a:t>
            </a:r>
            <a:pPr indent="0" marL="0">
              <a:lnSpc>
                <a:spcPct val="112000"/>
              </a:lnSpc>
              <a:spcAft>
                <a:spcPts val="600"/>
              </a:spcAft>
              <a:buNone/>
            </a:pPr>
            <a:r>
              <a:rPr lang="en-US" sz="1200" dirty="0">
                <a:solidFill>
                  <a:srgbClr val="1A1A1A"/>
                </a:solidFill>
                <a:latin typeface="Times New Roman" pitchFamily="34" charset="0"/>
                <a:ea typeface="Times New Roman" pitchFamily="34" charset="-122"/>
                <a:cs typeface="Times New Roman" pitchFamily="34" charset="-120"/>
              </a:rPr>
              <a:t>The bottom row is the trajectory with no surface points at all. The tin was carried 45 cm and set down 18 cm lower.</a:t>
            </a:r>
            <a:endParaRPr lang="en-US" sz="1200" dirty="0"/>
          </a:p>
        </p:txBody>
      </p:sp>
      <p:pic>
        <p:nvPicPr>
          <p:cNvPr id="5" name="Image 0" descr="/Users/harshdas/Desktop/Rinzler/Stony Brook University/Advanced Project/Meta-Aria-Gen-2-Robotics/outputs/object_pick_02_cloud.png">    </p:cNvPr>
          <p:cNvPicPr>
            <a:picLocks noChangeAspect="1"/>
          </p:cNvPicPr>
          <p:nvPr/>
        </p:nvPicPr>
        <p:blipFill>
          <a:blip r:embed="rId1"/>
          <a:stretch>
            <a:fillRect/>
          </a:stretch>
        </p:blipFill>
        <p:spPr>
          <a:xfrm>
            <a:off x="4251960" y="1133856"/>
            <a:ext cx="4361688" cy="3520440"/>
          </a:xfrm>
          <a:prstGeom prst="rect">
            <a:avLst/>
          </a:prstGeom>
        </p:spPr>
      </p:pic>
      <p:sp>
        <p:nvSpPr>
          <p:cNvPr id="6" name="Text 3"/>
          <p:cNvSpPr txBox="1"/>
          <p:nvPr/>
        </p:nvSpPr>
        <p:spPr>
          <a:xfrm>
            <a:off x="4251960" y="4690872"/>
            <a:ext cx="4361688" cy="237744"/>
          </a:xfrm>
          <a:prstGeom prst="rect">
            <a:avLst/>
          </a:prstGeom>
          <a:noFill/>
          <a:ln/>
        </p:spPr>
        <p:txBody>
          <a:bodyPr wrap="square" rtlCol="0" anchor="ctr"/>
          <a:lstStyle/>
          <a:p>
            <a:pPr algn="ctr" indent="0" marL="0">
              <a:buNone/>
            </a:pPr>
            <a:r>
              <a:rPr lang="en-US" sz="900" i="1" dirty="0">
                <a:solidFill>
                  <a:srgbClr val="5A5A5A"/>
                </a:solidFill>
                <a:latin typeface="Times New Roman" pitchFamily="34" charset="0"/>
                <a:ea typeface="Times New Roman" pitchFamily="34" charset="-122"/>
                <a:cs typeface="Times New Roman" pitchFamily="34" charset="-120"/>
              </a:rPr>
              <a:t>outputs/object_pick_02_cloud.png, drawn by tools/render_object_cloud.py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10896" y="274320"/>
            <a:ext cx="8522208" cy="411480"/>
          </a:xfrm>
          <a:prstGeom prst="rect">
            <a:avLst/>
          </a:prstGeom>
          <a:noFill/>
          <a:ln/>
        </p:spPr>
        <p:txBody>
          <a:bodyPr wrap="square" rtlCol="0" anchor="ctr"/>
          <a:lstStyle/>
          <a:p>
            <a:pPr indent="0" marL="0">
              <a:buNone/>
            </a:pPr>
            <a:r>
              <a:rPr lang="en-US" sz="1100" i="1" dirty="0">
                <a:solidFill>
                  <a:srgbClr val="5A5A5A"/>
                </a:solidFill>
                <a:latin typeface="Times New Roman" pitchFamily="34" charset="0"/>
                <a:ea typeface="Times New Roman" pitchFamily="34" charset="-122"/>
                <a:cs typeface="Times New Roman" pitchFamily="34" charset="-120"/>
              </a:rPr>
              <a:t>Caregiver Interface - Harsh (Sai)</a:t>
            </a:r>
            <a:endParaRPr lang="en-US" sz="1100" dirty="0"/>
          </a:p>
        </p:txBody>
      </p:sp>
      <p:sp>
        <p:nvSpPr>
          <p:cNvPr id="3" name="Text 1"/>
          <p:cNvSpPr txBox="1"/>
          <p:nvPr/>
        </p:nvSpPr>
        <p:spPr>
          <a:xfrm>
            <a:off x="310896" y="658368"/>
            <a:ext cx="8522208" cy="384048"/>
          </a:xfrm>
          <a:prstGeom prst="rect">
            <a:avLst/>
          </a:prstGeom>
          <a:noFill/>
          <a:ln/>
        </p:spPr>
        <p:txBody>
          <a:bodyPr wrap="square" rtlCol="0" anchor="ctr"/>
          <a:lstStyle/>
          <a:p>
            <a:pPr indent="0" marL="0">
              <a:buNone/>
            </a:pPr>
            <a:r>
              <a:rPr lang="en-US" sz="1600" b="1" dirty="0">
                <a:solidFill>
                  <a:srgbClr val="1A1A1A"/>
                </a:solidFill>
                <a:latin typeface="Times New Roman" pitchFamily="34" charset="0"/>
                <a:ea typeface="Times New Roman" pitchFamily="34" charset="-122"/>
                <a:cs typeface="Times New Roman" pitchFamily="34" charset="-120"/>
              </a:rPr>
              <a:t>What is left</a:t>
            </a:r>
            <a:endParaRPr lang="en-US" sz="1600" dirty="0"/>
          </a:p>
        </p:txBody>
      </p:sp>
      <p:sp>
        <p:nvSpPr>
          <p:cNvPr id="4" name="Text 2"/>
          <p:cNvSpPr txBox="1"/>
          <p:nvPr/>
        </p:nvSpPr>
        <p:spPr>
          <a:xfrm>
            <a:off x="310896" y="1060704"/>
            <a:ext cx="8522208" cy="3931920"/>
          </a:xfrm>
          <a:prstGeom prst="rect">
            <a:avLst/>
          </a:prstGeom>
          <a:noFill/>
          <a:ln/>
        </p:spPr>
        <p:txBody>
          <a:bodyPr wrap="square" rtlCol="0" anchor="t"/>
          <a:lstStyle/>
          <a:p>
            <a:pPr indent="0" marL="0">
              <a:lnSpc>
                <a:spcPct val="112000"/>
              </a:lnSpc>
              <a:spcAft>
                <a:spcPts val="600"/>
              </a:spcAft>
              <a:buNone/>
            </a:pPr>
            <a:r>
              <a:rPr lang="en-US" sz="1150" b="1" dirty="0">
                <a:solidFill>
                  <a:srgbClr val="1A1A1A"/>
                </a:solidFill>
                <a:latin typeface="Times New Roman" pitchFamily="34" charset="0"/>
                <a:ea typeface="Times New Roman" pitchFamily="34" charset="-122"/>
                <a:cs typeface="Times New Roman" pitchFamily="34" charset="-120"/>
              </a:rPr>
              <a:t>The jug comes out too wide.  </a:t>
            </a:r>
            <a:pPr indent="0" marL="0">
              <a:lnSpc>
                <a:spcPct val="112000"/>
              </a:lnSpc>
              <a:spcAft>
                <a:spcPts val="600"/>
              </a:spcAft>
              <a:buNone/>
            </a:pPr>
            <a:r>
              <a:rPr lang="en-US" sz="1150" dirty="0">
                <a:solidFill>
                  <a:srgbClr val="1A1A1A"/>
                </a:solidFill>
                <a:latin typeface="Times New Roman" pitchFamily="34" charset="0"/>
                <a:ea typeface="Times New Roman" pitchFamily="34" charset="-122"/>
                <a:cs typeface="Times New Roman" pitchFamily="34" charset="-120"/>
              </a:rPr>
              <a:t>A spoon pools to 14 to 22 cm and a tin to 14 to 16, which are the right sizes. A jug pools to 47 to 52 cm, which is two to three times a real jug. The jug turns the most while it is carried, so it is the most exposed to the rotation being rough. Fitting each frame to the model brings all three to 45 cm, which is better and still wrong.</a:t>
            </a:r>
            <a:endParaRPr lang="en-US" sz="1150" dirty="0"/>
          </a:p>
          <a:p>
            <a:pPr indent="0" marL="0">
              <a:lnSpc>
                <a:spcPct val="112000"/>
              </a:lnSpc>
              <a:spcAft>
                <a:spcPts val="600"/>
              </a:spcAft>
              <a:buNone/>
            </a:pPr>
            <a:r>
              <a:rPr lang="en-US" sz="1150" b="1" dirty="0">
                <a:solidFill>
                  <a:srgbClr val="1A1A1A"/>
                </a:solidFill>
                <a:latin typeface="Times New Roman" pitchFamily="34" charset="0"/>
                <a:ea typeface="Times New Roman" pitchFamily="34" charset="-122"/>
                <a:cs typeface="Times New Roman" pitchFamily="34" charset="-120"/>
              </a:rPr>
              <a:t>Finding contact over-calls.  </a:t>
            </a:r>
            <a:pPr indent="0" marL="0">
              <a:lnSpc>
                <a:spcPct val="112000"/>
              </a:lnSpc>
              <a:spcAft>
                <a:spcPts val="600"/>
              </a:spcAft>
              <a:buNone/>
            </a:pPr>
            <a:r>
              <a:rPr lang="en-US" sz="1150" dirty="0">
                <a:solidFill>
                  <a:srgbClr val="1A1A1A"/>
                </a:solidFill>
                <a:latin typeface="Times New Roman" pitchFamily="34" charset="0"/>
                <a:ea typeface="Times New Roman" pitchFamily="34" charset="-122"/>
                <a:cs typeface="Times New Roman" pitchFamily="34" charset="-120"/>
              </a:rPr>
              <a:t>Measuring the distance from the hand to the object agrees with Meta's own labels 67.2 per cent of the time on their kitchen recording, against 46.9 for the method that read the shape of the hand. It still marks contact on 73.7 per cent of frames where they mark 46.7, because it holds on while the hand lingers after setting the object down.</a:t>
            </a:r>
            <a:endParaRPr lang="en-US" sz="1150" dirty="0"/>
          </a:p>
          <a:p>
            <a:pPr indent="0" marL="0">
              <a:lnSpc>
                <a:spcPct val="112000"/>
              </a:lnSpc>
              <a:spcAft>
                <a:spcPts val="600"/>
              </a:spcAft>
              <a:buNone/>
            </a:pPr>
            <a:r>
              <a:rPr lang="en-US" sz="1150" b="1" dirty="0">
                <a:solidFill>
                  <a:srgbClr val="1A1A1A"/>
                </a:solidFill>
                <a:latin typeface="Times New Roman" pitchFamily="34" charset="0"/>
                <a:ea typeface="Times New Roman" pitchFamily="34" charset="-122"/>
                <a:cs typeface="Times New Roman" pitchFamily="34" charset="-120"/>
              </a:rPr>
              <a:t>Choosing which object.  </a:t>
            </a:r>
            <a:pPr indent="0" marL="0">
              <a:lnSpc>
                <a:spcPct val="112000"/>
              </a:lnSpc>
              <a:spcAft>
                <a:spcPts val="600"/>
              </a:spcAft>
              <a:buNone/>
            </a:pPr>
            <a:r>
              <a:rPr lang="en-US" sz="1150" dirty="0">
                <a:solidFill>
                  <a:srgbClr val="1A1A1A"/>
                </a:solidFill>
                <a:latin typeface="Times New Roman" pitchFamily="34" charset="0"/>
                <a:ea typeface="Times New Roman" pitchFamily="34" charset="-122"/>
                <a:cs typeface="Times New Roman" pitchFamily="34" charset="-120"/>
              </a:rPr>
              <a:t>Starting at the hand and stepping towards where the wearer is looking lands on the right object 46 per cent of the time against a ceiling of 54. Where the target is a spoon inside a bowl it lands on the bowl. Finding where the work is happening is close to solved. Telling one object from another there is not.</a:t>
            </a:r>
            <a:endParaRPr lang="en-US" sz="1150" dirty="0"/>
          </a:p>
          <a:p>
            <a:pPr indent="0" marL="0">
              <a:lnSpc>
                <a:spcPct val="112000"/>
              </a:lnSpc>
              <a:spcAft>
                <a:spcPts val="600"/>
              </a:spcAft>
              <a:buNone/>
            </a:pPr>
            <a:r>
              <a:rPr lang="en-US" sz="1150" b="1" dirty="0">
                <a:solidFill>
                  <a:srgbClr val="1A1A1A"/>
                </a:solidFill>
                <a:latin typeface="Times New Roman" pitchFamily="34" charset="0"/>
                <a:ea typeface="Times New Roman" pitchFamily="34" charset="-122"/>
                <a:cs typeface="Times New Roman" pitchFamily="34" charset="-120"/>
              </a:rPr>
              <a:t>The gaze interface.  </a:t>
            </a:r>
            <a:pPr indent="0" marL="0">
              <a:lnSpc>
                <a:spcPct val="112000"/>
              </a:lnSpc>
              <a:spcAft>
                <a:spcPts val="600"/>
              </a:spcAft>
              <a:buNone/>
            </a:pPr>
            <a:r>
              <a:rPr lang="en-US" sz="1150" dirty="0">
                <a:solidFill>
                  <a:srgbClr val="1A1A1A"/>
                </a:solidFill>
                <a:latin typeface="Times New Roman" pitchFamily="34" charset="0"/>
                <a:ea typeface="Times New Roman" pitchFamily="34" charset="-122"/>
                <a:cs typeface="Times New Roman" pitchFamily="34" charset="-120"/>
              </a:rPr>
              <a:t>The signal is measured. Nothing yet turns it into something a person uses.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Caregiver Interface</dc:title>
  <dc:subject>PptxGenJS Presentation</dc:subject>
  <dc:creator>Harsh Das</dc:creator>
  <cp:lastModifiedBy>Harsh Das</cp:lastModifiedBy>
  <cp:revision>1</cp:revision>
  <dcterms:created xsi:type="dcterms:W3CDTF">2026-10-23T19:23:13Z</dcterms:created>
  <dcterms:modified xsi:type="dcterms:W3CDTF">2026-10-23T19:23:13Z</dcterms:modified>
</cp:coreProperties>
</file>